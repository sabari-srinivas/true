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47" d="100"/>
          <a:sy n="147" d="100"/>
        </p:scale>
        <p:origin x="88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3325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563EB"/>
          </a:solidFill>
          <a:ln w="12700">
            <a:solidFill>
              <a:srgbClr val="2563EB"/>
            </a:solidFill>
            <a:prstDash val="solid"/>
          </a:ln>
        </p:spPr>
        <p:txBody>
          <a:bodyPr/>
          <a:lstStyle/>
          <a:p>
            <a:endParaRPr lang="en-US"/>
          </a:p>
        </p:txBody>
      </p:sp>
      <p:sp>
        <p:nvSpPr>
          <p:cNvPr id="3" name="Shape 1"/>
          <p:cNvSpPr/>
          <p:nvPr/>
        </p:nvSpPr>
        <p:spPr>
          <a:xfrm>
            <a:off x="457200" y="320040"/>
            <a:ext cx="1325880" cy="256032"/>
          </a:xfrm>
          <a:prstGeom prst="roundRect">
            <a:avLst>
              <a:gd name="adj" fmla="val 14286"/>
            </a:avLst>
          </a:prstGeom>
          <a:solidFill>
            <a:srgbClr val="111827"/>
          </a:solidFill>
          <a:ln w="12700">
            <a:solidFill>
              <a:srgbClr val="111827"/>
            </a:solidFill>
            <a:prstDash val="solid"/>
          </a:ln>
        </p:spPr>
        <p:txBody>
          <a:bodyPr/>
          <a:lstStyle/>
          <a:p>
            <a:endParaRPr lang="en-US"/>
          </a:p>
        </p:txBody>
      </p:sp>
      <p:sp>
        <p:nvSpPr>
          <p:cNvPr id="4" name="Text 2"/>
          <p:cNvSpPr/>
          <p:nvPr/>
        </p:nvSpPr>
        <p:spPr>
          <a:xfrm>
            <a:off x="457200" y="320040"/>
            <a:ext cx="132588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MULTI-AGENT</a:t>
            </a:r>
            <a:endParaRPr lang="en-US" sz="900" dirty="0"/>
          </a:p>
        </p:txBody>
      </p:sp>
      <p:sp>
        <p:nvSpPr>
          <p:cNvPr id="5" name="Shape 3"/>
          <p:cNvSpPr/>
          <p:nvPr/>
        </p:nvSpPr>
        <p:spPr>
          <a:xfrm>
            <a:off x="1874520" y="320040"/>
            <a:ext cx="2194560" cy="256032"/>
          </a:xfrm>
          <a:prstGeom prst="roundRect">
            <a:avLst>
              <a:gd name="adj" fmla="val 14286"/>
            </a:avLst>
          </a:prstGeom>
          <a:solidFill>
            <a:srgbClr val="EFF6FF"/>
          </a:solidFill>
          <a:ln w="9525">
            <a:solidFill>
              <a:srgbClr val="2563EB"/>
            </a:solidFill>
            <a:prstDash val="solid"/>
          </a:ln>
        </p:spPr>
        <p:txBody>
          <a:bodyPr/>
          <a:lstStyle/>
          <a:p>
            <a:endParaRPr lang="en-US"/>
          </a:p>
        </p:txBody>
      </p:sp>
      <p:sp>
        <p:nvSpPr>
          <p:cNvPr id="6" name="Text 4"/>
          <p:cNvSpPr/>
          <p:nvPr/>
        </p:nvSpPr>
        <p:spPr>
          <a:xfrm>
            <a:off x="1874520" y="320040"/>
            <a:ext cx="2194560" cy="256032"/>
          </a:xfrm>
          <a:prstGeom prst="rect">
            <a:avLst/>
          </a:prstGeom>
          <a:noFill/>
          <a:ln/>
        </p:spPr>
        <p:txBody>
          <a:bodyPr wrap="square" lIns="0" tIns="0" rIns="0" bIns="0" rtlCol="0" anchor="ctr"/>
          <a:lstStyle/>
          <a:p>
            <a:pPr marL="0" indent="0" algn="ctr">
              <a:buNone/>
            </a:pPr>
            <a:r>
              <a:rPr lang="en-US" sz="900" b="1" kern="0" spc="200" dirty="0">
                <a:solidFill>
                  <a:srgbClr val="2563EB"/>
                </a:solidFill>
                <a:latin typeface="Calibri" pitchFamily="34" charset="0"/>
                <a:ea typeface="Calibri" pitchFamily="34" charset="-122"/>
                <a:cs typeface="Calibri" pitchFamily="34" charset="-120"/>
              </a:rPr>
              <a:t>CORPORATE  FUNCTIONS</a:t>
            </a:r>
            <a:endParaRPr lang="en-US" sz="900" dirty="0"/>
          </a:p>
        </p:txBody>
      </p:sp>
      <p:sp>
        <p:nvSpPr>
          <p:cNvPr id="7" name="Text 5"/>
          <p:cNvSpPr/>
          <p:nvPr/>
        </p:nvSpPr>
        <p:spPr>
          <a:xfrm>
            <a:off x="457200" y="713232"/>
            <a:ext cx="8412480" cy="594360"/>
          </a:xfrm>
          <a:prstGeom prst="rect">
            <a:avLst/>
          </a:prstGeom>
          <a:noFill/>
          <a:ln/>
        </p:spPr>
        <p:txBody>
          <a:bodyPr wrap="square" lIns="0" tIns="0" rIns="0" bIns="0" rtlCol="0" anchor="t"/>
          <a:lstStyle/>
          <a:p>
            <a:pPr marL="0" indent="0" algn="l">
              <a:buNone/>
            </a:pPr>
            <a:r>
              <a:rPr lang="en-US" sz="2300" b="1" dirty="0">
                <a:solidFill>
                  <a:srgbClr val="111827"/>
                </a:solidFill>
                <a:latin typeface="Calibri" pitchFamily="34" charset="0"/>
                <a:ea typeface="Calibri" pitchFamily="34" charset="-122"/>
                <a:cs typeface="Calibri" pitchFamily="34" charset="-120"/>
              </a:rPr>
              <a:t>Vendor assistant</a:t>
            </a:r>
            <a:endParaRPr lang="en-US" sz="2300" dirty="0"/>
          </a:p>
        </p:txBody>
      </p:sp>
      <p:sp>
        <p:nvSpPr>
          <p:cNvPr id="8" name="Text 6"/>
          <p:cNvSpPr/>
          <p:nvPr/>
        </p:nvSpPr>
        <p:spPr>
          <a:xfrm>
            <a:off x="457200" y="1417320"/>
            <a:ext cx="8412480" cy="1325880"/>
          </a:xfrm>
          <a:prstGeom prst="rect">
            <a:avLst/>
          </a:prstGeom>
          <a:noFill/>
          <a:ln/>
        </p:spPr>
        <p:txBody>
          <a:bodyPr wrap="square" lIns="0" tIns="0" rIns="0" bIns="0" rtlCol="0" anchor="t"/>
          <a:lstStyle/>
          <a:p>
            <a:pPr marL="0" indent="0" algn="l">
              <a:lnSpc>
                <a:spcPct val="122000"/>
              </a:lnSpc>
              <a:buNone/>
            </a:pPr>
            <a:r>
              <a:rPr lang="en-US" sz="1000" dirty="0">
                <a:solidFill>
                  <a:srgbClr val="6B7280"/>
                </a:solidFill>
                <a:latin typeface="Calibri" pitchFamily="34" charset="0"/>
                <a:ea typeface="Calibri" pitchFamily="34" charset="-122"/>
                <a:cs typeface="Calibri" pitchFamily="34" charset="-120"/>
              </a:rPr>
              <a:t>Build a multi-agent orchestrator that takes a new third-party or SaaS onboarding request and drives it from intake to signed contract and production access across finance, information security, legal, procurement, and the business owner. The network coordinates an intake-triage agent, a security-review agent (SIG Lite, CAIQ, SOC 2 parsing), a data-classification agent, a contract-review agent, a finance-and-spend agent (budget line, category, renewal), and an access-provisioning gate. Inputs: the requester's brief, the vendor's trust pack and SOC 2 report, the data types in scope, the contract draft, and the finance budget line. Output: a risk-tiered decision pack, a red-lined MSA and DPA, a budget reservation, a provisioning ticket with least-privilege scopes, and a renewal-review date wired into the control plane. Target: onboarding drops from nine weeks to five business days with an audit trail the CFO and CISO both accept.</a:t>
            </a:r>
            <a:endParaRPr lang="en-US" sz="1000" dirty="0"/>
          </a:p>
        </p:txBody>
      </p:sp>
      <p:sp>
        <p:nvSpPr>
          <p:cNvPr id="9" name="Shape 7"/>
          <p:cNvSpPr/>
          <p:nvPr/>
        </p:nvSpPr>
        <p:spPr>
          <a:xfrm>
            <a:off x="457200" y="2834640"/>
            <a:ext cx="2706624" cy="2194560"/>
          </a:xfrm>
          <a:prstGeom prst="rect">
            <a:avLst/>
          </a:prstGeom>
          <a:solidFill>
            <a:srgbClr val="F3F4F6"/>
          </a:solidFill>
          <a:ln w="12700">
            <a:solidFill>
              <a:srgbClr val="F3F4F6"/>
            </a:solidFill>
            <a:prstDash val="solid"/>
          </a:ln>
        </p:spPr>
        <p:txBody>
          <a:bodyPr/>
          <a:lstStyle/>
          <a:p>
            <a:endParaRPr lang="en-US"/>
          </a:p>
        </p:txBody>
      </p:sp>
      <p:sp>
        <p:nvSpPr>
          <p:cNvPr id="10" name="Shape 8"/>
          <p:cNvSpPr/>
          <p:nvPr/>
        </p:nvSpPr>
        <p:spPr>
          <a:xfrm>
            <a:off x="457200" y="2834640"/>
            <a:ext cx="2706624" cy="365760"/>
          </a:xfrm>
          <a:prstGeom prst="rect">
            <a:avLst/>
          </a:prstGeom>
          <a:solidFill>
            <a:srgbClr val="1F2937"/>
          </a:solidFill>
          <a:ln w="12700">
            <a:solidFill>
              <a:srgbClr val="1F2937"/>
            </a:solidFill>
            <a:prstDash val="solid"/>
          </a:ln>
        </p:spPr>
        <p:txBody>
          <a:bodyPr/>
          <a:lstStyle/>
          <a:p>
            <a:endParaRPr lang="en-US"/>
          </a:p>
        </p:txBody>
      </p:sp>
      <p:sp>
        <p:nvSpPr>
          <p:cNvPr id="11" name="Text 9"/>
          <p:cNvSpPr/>
          <p:nvPr/>
        </p:nvSpPr>
        <p:spPr>
          <a:xfrm>
            <a:off x="621792"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Why it's hard</a:t>
            </a:r>
            <a:endParaRPr lang="en-US" sz="1200" dirty="0"/>
          </a:p>
        </p:txBody>
      </p:sp>
      <p:sp>
        <p:nvSpPr>
          <p:cNvPr id="12" name="Text 10"/>
          <p:cNvSpPr/>
          <p:nvPr/>
        </p:nvSpPr>
        <p:spPr>
          <a:xfrm>
            <a:off x="621792"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new vendor lives in a contract, a SIG, a DPA, a budget line, and three committee agendas — engineering has used the trial by the time the review aligns.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Finance, InfoSec, and the product owner each read the same SOC 2 from a different angle, and nobody owns the cross-reference.</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Renewals sit in a spreadsheet; a missed date becomes an audit finding, a budget true-up, or a broken integration.</a:t>
            </a:r>
            <a:endParaRPr lang="en-US" sz="900" dirty="0"/>
          </a:p>
        </p:txBody>
      </p:sp>
      <p:sp>
        <p:nvSpPr>
          <p:cNvPr id="13" name="Shape 11"/>
          <p:cNvSpPr/>
          <p:nvPr/>
        </p:nvSpPr>
        <p:spPr>
          <a:xfrm>
            <a:off x="3273552" y="2834640"/>
            <a:ext cx="2706624" cy="2194560"/>
          </a:xfrm>
          <a:prstGeom prst="rect">
            <a:avLst/>
          </a:prstGeom>
          <a:solidFill>
            <a:srgbClr val="EFF6FF"/>
          </a:solidFill>
          <a:ln w="12700">
            <a:solidFill>
              <a:srgbClr val="EFF6FF"/>
            </a:solidFill>
            <a:prstDash val="solid"/>
          </a:ln>
        </p:spPr>
        <p:txBody>
          <a:bodyPr/>
          <a:lstStyle/>
          <a:p>
            <a:endParaRPr lang="en-US"/>
          </a:p>
        </p:txBody>
      </p:sp>
      <p:sp>
        <p:nvSpPr>
          <p:cNvPr id="14" name="Shape 12"/>
          <p:cNvSpPr/>
          <p:nvPr/>
        </p:nvSpPr>
        <p:spPr>
          <a:xfrm>
            <a:off x="3273552" y="2834640"/>
            <a:ext cx="2706624" cy="365760"/>
          </a:xfrm>
          <a:prstGeom prst="rect">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3438144"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Why GenAI</a:t>
            </a:r>
            <a:endParaRPr lang="en-US" sz="1200" dirty="0"/>
          </a:p>
        </p:txBody>
      </p:sp>
      <p:sp>
        <p:nvSpPr>
          <p:cNvPr id="16" name="Text 14"/>
          <p:cNvSpPr/>
          <p:nvPr/>
        </p:nvSpPr>
        <p:spPr>
          <a:xfrm>
            <a:off x="3438144"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rules engine can't read a 70-page SOC 2 and extract shared-responsibility gaps mapped to your control framework — the reasoning isn't rule-shaped.</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procurement dashboard tracks the stage but won't draft the DPA red-line, the security-review summary, or the risk memo the committee actually reads.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A manual review committee meets weekly; 200 vendors a year can't clear that slot without growing shadow IT.</a:t>
            </a:r>
            <a:endParaRPr lang="en-US" sz="900" dirty="0"/>
          </a:p>
        </p:txBody>
      </p:sp>
      <p:sp>
        <p:nvSpPr>
          <p:cNvPr id="17" name="Shape 15"/>
          <p:cNvSpPr/>
          <p:nvPr/>
        </p:nvSpPr>
        <p:spPr>
          <a:xfrm>
            <a:off x="6089904" y="2834640"/>
            <a:ext cx="2706624" cy="2194560"/>
          </a:xfrm>
          <a:prstGeom prst="rect">
            <a:avLst/>
          </a:prstGeom>
          <a:solidFill>
            <a:srgbClr val="DBEAFE"/>
          </a:solidFill>
          <a:ln w="12700">
            <a:solidFill>
              <a:srgbClr val="DBEAFE"/>
            </a:solidFill>
            <a:prstDash val="solid"/>
          </a:ln>
        </p:spPr>
        <p:txBody>
          <a:bodyPr/>
          <a:lstStyle/>
          <a:p>
            <a:endParaRPr lang="en-US"/>
          </a:p>
        </p:txBody>
      </p:sp>
      <p:sp>
        <p:nvSpPr>
          <p:cNvPr id="18" name="Shape 16"/>
          <p:cNvSpPr/>
          <p:nvPr/>
        </p:nvSpPr>
        <p:spPr>
          <a:xfrm>
            <a:off x="6089904" y="2834640"/>
            <a:ext cx="2706624" cy="365760"/>
          </a:xfrm>
          <a:prstGeom prst="rect">
            <a:avLst/>
          </a:prstGeom>
          <a:solidFill>
            <a:srgbClr val="1D4ED8"/>
          </a:solidFill>
          <a:ln w="12700">
            <a:solidFill>
              <a:srgbClr val="1D4ED8"/>
            </a:solidFill>
            <a:prstDash val="solid"/>
          </a:ln>
        </p:spPr>
        <p:txBody>
          <a:bodyPr/>
          <a:lstStyle/>
          <a:p>
            <a:endParaRPr lang="en-US"/>
          </a:p>
        </p:txBody>
      </p:sp>
      <p:sp>
        <p:nvSpPr>
          <p:cNvPr id="19" name="Text 17"/>
          <p:cNvSpPr/>
          <p:nvPr/>
        </p:nvSpPr>
        <p:spPr>
          <a:xfrm>
            <a:off x="6254496" y="2834640"/>
            <a:ext cx="2377440" cy="3657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Success criteria</a:t>
            </a:r>
            <a:endParaRPr lang="en-US" sz="1200" dirty="0"/>
          </a:p>
        </p:txBody>
      </p:sp>
      <p:sp>
        <p:nvSpPr>
          <p:cNvPr id="20" name="Text 18"/>
          <p:cNvSpPr/>
          <p:nvPr/>
        </p:nvSpPr>
        <p:spPr>
          <a:xfrm>
            <a:off x="6254496" y="3273552"/>
            <a:ext cx="2414016" cy="1719072"/>
          </a:xfrm>
          <a:prstGeom prst="rect">
            <a:avLst/>
          </a:prstGeom>
          <a:noFill/>
          <a:ln/>
        </p:spPr>
        <p:txBody>
          <a:bodyPr wrap="square" lIns="0" tIns="0" rIns="0" bIns="0" rtlCol="0" anchor="t"/>
          <a:lstStyle/>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For one seeded vendor, produce a risk-tiered decision pack, contract red-line, and provisioning ticket in under 10 minutes.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≥90% of extracted SOC 2 control findings match a facilitator-verified baseline across 15 seeded controls.</a:t>
            </a:r>
            <a:endParaRPr lang="en-US" sz="900" dirty="0"/>
          </a:p>
          <a:p>
            <a:pPr marL="342900" indent="-342900" algn="l">
              <a:lnSpc>
                <a:spcPct val="118000"/>
              </a:lnSpc>
              <a:spcAft>
                <a:spcPts val="400"/>
              </a:spcAft>
              <a:buSzPct val="100000"/>
              <a:buChar char="●"/>
            </a:pPr>
            <a:r>
              <a:rPr lang="en-US" sz="900" dirty="0">
                <a:solidFill>
                  <a:srgbClr val="1F2937"/>
                </a:solidFill>
                <a:latin typeface="Calibri" pitchFamily="34" charset="0"/>
                <a:ea typeface="Calibri" pitchFamily="34" charset="-122"/>
                <a:cs typeface="Calibri" pitchFamily="34" charset="-120"/>
              </a:rPr>
              <a:t>Zero fabricated policy citations — every finding must cite a clause from the vendor's trust pack.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393</Words>
  <Application>Microsoft Macintosh PowerPoint</Application>
  <PresentationFormat>On-screen Show (16:9)</PresentationFormat>
  <Paragraphs>17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Functions — Vendor Onboarding Orchestrator — Challenge Card</dc:title>
  <dc:subject>PptxGenJS Presentation</dc:subject>
  <dc:creator>PptxGenJS</dc:creator>
  <cp:lastModifiedBy>Raji Krishnamoorthy</cp:lastModifiedBy>
  <cp:revision>2</cp:revision>
  <dcterms:created xsi:type="dcterms:W3CDTF">2026-04-15T18:23:53Z</dcterms:created>
  <dcterms:modified xsi:type="dcterms:W3CDTF">2026-04-15T18:25:19Z</dcterms:modified>
</cp:coreProperties>
</file>