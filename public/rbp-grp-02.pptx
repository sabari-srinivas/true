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3" d="100"/>
          <a:sy n="153" d="100"/>
        </p:scale>
        <p:origin x="98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010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457200" y="320040"/>
            <a:ext cx="1234440" cy="256032"/>
          </a:xfrm>
          <a:prstGeom prst="roundRect">
            <a:avLst>
              <a:gd name="adj" fmla="val 14286"/>
            </a:avLst>
          </a:prstGeom>
          <a:solidFill>
            <a:srgbClr val="111827"/>
          </a:solidFill>
          <a:ln w="12700">
            <a:solidFill>
              <a:srgbClr val="111827"/>
            </a:solidFill>
            <a:prstDash val="solid"/>
          </a:ln>
        </p:spPr>
        <p:txBody>
          <a:bodyPr/>
          <a:lstStyle/>
          <a:p>
            <a:endParaRPr lang="en-US"/>
          </a:p>
        </p:txBody>
      </p:sp>
      <p:sp>
        <p:nvSpPr>
          <p:cNvPr id="4" name="Text 2"/>
          <p:cNvSpPr/>
          <p:nvPr/>
        </p:nvSpPr>
        <p:spPr>
          <a:xfrm>
            <a:off x="457200" y="320040"/>
            <a:ext cx="123444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AGENTIC RAG</a:t>
            </a:r>
            <a:endParaRPr lang="en-US" sz="900" dirty="0"/>
          </a:p>
        </p:txBody>
      </p:sp>
      <p:sp>
        <p:nvSpPr>
          <p:cNvPr id="5" name="Shape 3"/>
          <p:cNvSpPr/>
          <p:nvPr/>
        </p:nvSpPr>
        <p:spPr>
          <a:xfrm>
            <a:off x="1783080" y="320040"/>
            <a:ext cx="1417320" cy="256032"/>
          </a:xfrm>
          <a:prstGeom prst="roundRect">
            <a:avLst>
              <a:gd name="adj" fmla="val 14286"/>
            </a:avLst>
          </a:prstGeom>
          <a:solidFill>
            <a:srgbClr val="EFF6FF"/>
          </a:solidFill>
          <a:ln w="9525">
            <a:solidFill>
              <a:srgbClr val="2563EB"/>
            </a:solidFill>
            <a:prstDash val="solid"/>
          </a:ln>
        </p:spPr>
        <p:txBody>
          <a:bodyPr/>
          <a:lstStyle/>
          <a:p>
            <a:endParaRPr lang="en-US"/>
          </a:p>
        </p:txBody>
      </p:sp>
      <p:sp>
        <p:nvSpPr>
          <p:cNvPr id="6" name="Text 4"/>
          <p:cNvSpPr/>
          <p:nvPr/>
        </p:nvSpPr>
        <p:spPr>
          <a:xfrm>
            <a:off x="1783080" y="320040"/>
            <a:ext cx="1417320" cy="256032"/>
          </a:xfrm>
          <a:prstGeom prst="rect">
            <a:avLst/>
          </a:prstGeom>
          <a:noFill/>
          <a:ln/>
        </p:spPr>
        <p:txBody>
          <a:bodyPr wrap="square" lIns="0" tIns="0" rIns="0" bIns="0" rtlCol="0" anchor="ctr"/>
          <a:lstStyle/>
          <a:p>
            <a:pPr marL="0" indent="0" algn="ctr">
              <a:buNone/>
            </a:pPr>
            <a:r>
              <a:rPr lang="en-US" sz="900" b="1" kern="0" spc="200" dirty="0">
                <a:solidFill>
                  <a:srgbClr val="2563EB"/>
                </a:solidFill>
                <a:latin typeface="Calibri" pitchFamily="34" charset="0"/>
                <a:ea typeface="Calibri" pitchFamily="34" charset="-122"/>
                <a:cs typeface="Calibri" pitchFamily="34" charset="-120"/>
              </a:rPr>
              <a:t>BANKING  ·  US</a:t>
            </a:r>
            <a:endParaRPr lang="en-US" sz="900" dirty="0"/>
          </a:p>
        </p:txBody>
      </p:sp>
      <p:sp>
        <p:nvSpPr>
          <p:cNvPr id="7" name="Text 5"/>
          <p:cNvSpPr/>
          <p:nvPr/>
        </p:nvSpPr>
        <p:spPr>
          <a:xfrm>
            <a:off x="457200" y="713232"/>
            <a:ext cx="8412480" cy="777240"/>
          </a:xfrm>
          <a:prstGeom prst="rect">
            <a:avLst/>
          </a:prstGeom>
          <a:noFill/>
          <a:ln/>
        </p:spPr>
        <p:txBody>
          <a:bodyPr wrap="square" lIns="0" tIns="0" rIns="0" bIns="0" rtlCol="0" anchor="t"/>
          <a:lstStyle/>
          <a:p>
            <a:r>
              <a:rPr lang="en-GB" sz="2400" b="1" dirty="0"/>
              <a:t>Branch Policy Copilot</a:t>
            </a:r>
            <a:endParaRPr lang="en-US" sz="2200" b="1" dirty="0"/>
          </a:p>
        </p:txBody>
      </p:sp>
      <p:sp>
        <p:nvSpPr>
          <p:cNvPr id="8" name="Text 6"/>
          <p:cNvSpPr/>
          <p:nvPr/>
        </p:nvSpPr>
        <p:spPr>
          <a:xfrm>
            <a:off x="457200" y="1536192"/>
            <a:ext cx="8412480" cy="1234440"/>
          </a:xfrm>
          <a:prstGeom prst="rect">
            <a:avLst/>
          </a:prstGeom>
          <a:noFill/>
          <a:ln/>
        </p:spPr>
        <p:txBody>
          <a:bodyPr wrap="square" lIns="0" tIns="0" rIns="0" bIns="0" rtlCol="0" anchor="t"/>
          <a:lstStyle/>
          <a:p>
            <a:pPr marL="0" indent="0" algn="l">
              <a:lnSpc>
                <a:spcPct val="122000"/>
              </a:lnSpc>
              <a:buNone/>
            </a:pPr>
            <a:r>
              <a:rPr lang="en-US" sz="1000" dirty="0">
                <a:solidFill>
                  <a:srgbClr val="6B7280"/>
                </a:solidFill>
                <a:latin typeface="Calibri" pitchFamily="34" charset="0"/>
                <a:ea typeface="Calibri" pitchFamily="34" charset="-122"/>
                <a:cs typeface="Calibri" pitchFamily="34" charset="-120"/>
              </a:rPr>
              <a:t>Build an Agentic RAG copilot that branch tellers, personal bankers, and floor managers can query in plain English during a live customer interaction. The network ingests procedure manuals, regulatory bulletins (CFPB, OCC, FDIC), product disclosures, rate sheets, and branch memos, and exposes them through a retrieval-planner agent, a policy-reasoner agent, and a grounded-answer agent. Inputs: the staff question, the customer's product context (checking, HELOC, IRA, wire), and the branch state (jurisdiction, business day). Output: a short, cited answer the staffer can read aloud — plus the underlying clause, any disclosure that must be handed over, and the fallback path when the policy has an exception. The copilot must refuse when policy is ambiguous and route the case to the supervisor queue. Target: the next procedure change reaches staff in hours, not quarterly release cycles.</a:t>
            </a:r>
            <a:endParaRPr lang="en-US" sz="1000" dirty="0"/>
          </a:p>
        </p:txBody>
      </p:sp>
      <p:sp>
        <p:nvSpPr>
          <p:cNvPr id="9" name="Shape 7"/>
          <p:cNvSpPr/>
          <p:nvPr/>
        </p:nvSpPr>
        <p:spPr>
          <a:xfrm>
            <a:off x="457200" y="2834640"/>
            <a:ext cx="2706624" cy="2194560"/>
          </a:xfrm>
          <a:prstGeom prst="rect">
            <a:avLst/>
          </a:prstGeom>
          <a:solidFill>
            <a:srgbClr val="F3F4F6"/>
          </a:solidFill>
          <a:ln w="12700">
            <a:solidFill>
              <a:srgbClr val="F3F4F6"/>
            </a:solidFill>
            <a:prstDash val="solid"/>
          </a:ln>
        </p:spPr>
        <p:txBody>
          <a:bodyPr/>
          <a:lstStyle/>
          <a:p>
            <a:endParaRPr lang="en-US"/>
          </a:p>
        </p:txBody>
      </p:sp>
      <p:sp>
        <p:nvSpPr>
          <p:cNvPr id="10" name="Shape 8"/>
          <p:cNvSpPr/>
          <p:nvPr/>
        </p:nvSpPr>
        <p:spPr>
          <a:xfrm>
            <a:off x="457200" y="2834640"/>
            <a:ext cx="2706624" cy="365760"/>
          </a:xfrm>
          <a:prstGeom prst="rect">
            <a:avLst/>
          </a:prstGeom>
          <a:solidFill>
            <a:srgbClr val="1F2937"/>
          </a:solidFill>
          <a:ln w="12700">
            <a:solidFill>
              <a:srgbClr val="1F2937"/>
            </a:solidFill>
            <a:prstDash val="solid"/>
          </a:ln>
        </p:spPr>
        <p:txBody>
          <a:bodyPr/>
          <a:lstStyle/>
          <a:p>
            <a:endParaRPr lang="en-US"/>
          </a:p>
        </p:txBody>
      </p:sp>
      <p:sp>
        <p:nvSpPr>
          <p:cNvPr id="11" name="Text 9"/>
          <p:cNvSpPr/>
          <p:nvPr/>
        </p:nvSpPr>
        <p:spPr>
          <a:xfrm>
            <a:off x="621792"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Why it's hard</a:t>
            </a:r>
            <a:endParaRPr lang="en-US" sz="1200" dirty="0"/>
          </a:p>
        </p:txBody>
      </p:sp>
      <p:sp>
        <p:nvSpPr>
          <p:cNvPr id="12" name="Text 10"/>
          <p:cNvSpPr/>
          <p:nvPr/>
        </p:nvSpPr>
        <p:spPr>
          <a:xfrm>
            <a:off x="621792"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Procedures live across 40+ PDFs, wikis, and late-Friday memos; onboarding a branch needs a six-week training runway the plan doesn't have.</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Regulators change disclosure rules mid-quarter; reaching 1,800 branches takes a release, an LMS cycle, and an audit pass.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Every wrong answer at the counter becomes a finding, a repeat visit, or a CFPB complaint — and it lands on the delivery status report.</a:t>
            </a:r>
            <a:endParaRPr lang="en-US" sz="900" dirty="0"/>
          </a:p>
        </p:txBody>
      </p:sp>
      <p:sp>
        <p:nvSpPr>
          <p:cNvPr id="13" name="Shape 11"/>
          <p:cNvSpPr/>
          <p:nvPr/>
        </p:nvSpPr>
        <p:spPr>
          <a:xfrm>
            <a:off x="3273552" y="2834640"/>
            <a:ext cx="2706624" cy="2194560"/>
          </a:xfrm>
          <a:prstGeom prst="rect">
            <a:avLst/>
          </a:prstGeom>
          <a:solidFill>
            <a:srgbClr val="EFF6FF"/>
          </a:solidFill>
          <a:ln w="12700">
            <a:solidFill>
              <a:srgbClr val="EFF6FF"/>
            </a:solidFill>
            <a:prstDash val="solid"/>
          </a:ln>
        </p:spPr>
        <p:txBody>
          <a:bodyPr/>
          <a:lstStyle/>
          <a:p>
            <a:endParaRPr lang="en-US"/>
          </a:p>
        </p:txBody>
      </p:sp>
      <p:sp>
        <p:nvSpPr>
          <p:cNvPr id="14" name="Shape 12"/>
          <p:cNvSpPr/>
          <p:nvPr/>
        </p:nvSpPr>
        <p:spPr>
          <a:xfrm>
            <a:off x="3273552" y="2834640"/>
            <a:ext cx="2706624" cy="365760"/>
          </a:xfrm>
          <a:prstGeom prst="rect">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3438144"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Why GenAI</a:t>
            </a:r>
            <a:endParaRPr lang="en-US" sz="1200" dirty="0"/>
          </a:p>
        </p:txBody>
      </p:sp>
      <p:sp>
        <p:nvSpPr>
          <p:cNvPr id="16" name="Text 14"/>
          <p:cNvSpPr/>
          <p:nvPr/>
        </p:nvSpPr>
        <p:spPr>
          <a:xfrm>
            <a:off x="3438144"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rules engine can't read a 90-page OCC bulletin and map it to the checking-account script; authoring rules takes longer than the rule lasts.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search dashboard returns ten links — the teller has ten seconds. Retrieval alone doesn't close the question in front of the customer.</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manual policy hotline caps at ~40 calls per analyst per day; staffing that for 1,800 branches blows the run-cost envelope.</a:t>
            </a:r>
            <a:endParaRPr lang="en-US" sz="900" dirty="0"/>
          </a:p>
        </p:txBody>
      </p:sp>
      <p:sp>
        <p:nvSpPr>
          <p:cNvPr id="17" name="Shape 15"/>
          <p:cNvSpPr/>
          <p:nvPr/>
        </p:nvSpPr>
        <p:spPr>
          <a:xfrm>
            <a:off x="6089904" y="2834640"/>
            <a:ext cx="2706624" cy="2194560"/>
          </a:xfrm>
          <a:prstGeom prst="rect">
            <a:avLst/>
          </a:prstGeom>
          <a:solidFill>
            <a:srgbClr val="DBEAFE"/>
          </a:solidFill>
          <a:ln w="12700">
            <a:solidFill>
              <a:srgbClr val="DBEAFE"/>
            </a:solidFill>
            <a:prstDash val="solid"/>
          </a:ln>
        </p:spPr>
        <p:txBody>
          <a:bodyPr/>
          <a:lstStyle/>
          <a:p>
            <a:endParaRPr lang="en-US"/>
          </a:p>
        </p:txBody>
      </p:sp>
      <p:sp>
        <p:nvSpPr>
          <p:cNvPr id="18" name="Shape 16"/>
          <p:cNvSpPr/>
          <p:nvPr/>
        </p:nvSpPr>
        <p:spPr>
          <a:xfrm>
            <a:off x="6089904" y="2834640"/>
            <a:ext cx="2706624" cy="365760"/>
          </a:xfrm>
          <a:prstGeom prst="rect">
            <a:avLst/>
          </a:prstGeom>
          <a:solidFill>
            <a:srgbClr val="1D4ED8"/>
          </a:solidFill>
          <a:ln w="12700">
            <a:solidFill>
              <a:srgbClr val="1D4ED8"/>
            </a:solidFill>
            <a:prstDash val="solid"/>
          </a:ln>
        </p:spPr>
        <p:txBody>
          <a:bodyPr/>
          <a:lstStyle/>
          <a:p>
            <a:endParaRPr lang="en-US"/>
          </a:p>
        </p:txBody>
      </p:sp>
      <p:sp>
        <p:nvSpPr>
          <p:cNvPr id="19" name="Text 17"/>
          <p:cNvSpPr/>
          <p:nvPr/>
        </p:nvSpPr>
        <p:spPr>
          <a:xfrm>
            <a:off x="6254496"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Success criteria</a:t>
            </a:r>
            <a:endParaRPr lang="en-US" sz="1200" dirty="0"/>
          </a:p>
        </p:txBody>
      </p:sp>
      <p:sp>
        <p:nvSpPr>
          <p:cNvPr id="20" name="Text 18"/>
          <p:cNvSpPr/>
          <p:nvPr/>
        </p:nvSpPr>
        <p:spPr>
          <a:xfrm>
            <a:off x="6254496"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≥80% of 20 seeded teller questions answered with a citation that traces to the correct source paragraph.</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Zero fabricated clauses across 10 adversarial prompts — any hallucination or uncited claim is a fail.</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Median response under 6 seconds on a representative branch-laptop network profile.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383</Words>
  <Application>Microsoft Macintosh PowerPoint</Application>
  <PresentationFormat>On-screen Show (16:9)</PresentationFormat>
  <Paragraphs>17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 Ops Knowledge Copilot — Challenge Card</dc:title>
  <dc:subject>PptxGenJS Presentation</dc:subject>
  <dc:creator>PptxGenJS</dc:creator>
  <cp:lastModifiedBy>Raji Krishnamoorthy</cp:lastModifiedBy>
  <cp:revision>2</cp:revision>
  <dcterms:created xsi:type="dcterms:W3CDTF">2026-04-15T17:52:34Z</dcterms:created>
  <dcterms:modified xsi:type="dcterms:W3CDTF">2026-04-15T17:57:03Z</dcterms:modified>
</cp:coreProperties>
</file>